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Nuni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bold.fntdata"/><Relationship Id="rId23" Type="http://schemas.openxmlformats.org/officeDocument/2006/relationships/font" Target="fonts/Nuni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Italic.fntdata"/><Relationship Id="rId25"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457de6446_0_1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457de6446_0_1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457de64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c457de64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457de644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457de644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1050">
                <a:solidFill>
                  <a:srgbClr val="3C4043"/>
                </a:solidFill>
              </a:rPr>
              <a:t>Online platforms struggle to balance free expression with the need to reduce harm from extremist content. </a:t>
            </a:r>
            <a:endParaRPr sz="1050">
              <a:solidFill>
                <a:srgbClr val="3C4043"/>
              </a:solidFill>
            </a:endParaRPr>
          </a:p>
          <a:p>
            <a:pPr indent="0" lvl="0" marL="0" rtl="0" algn="l">
              <a:lnSpc>
                <a:spcPct val="115000"/>
              </a:lnSpc>
              <a:spcBef>
                <a:spcPts val="1200"/>
              </a:spcBef>
              <a:spcAft>
                <a:spcPts val="0"/>
              </a:spcAft>
              <a:buClr>
                <a:schemeClr val="dk1"/>
              </a:buClr>
              <a:buSzPts val="1100"/>
              <a:buFont typeface="Arial"/>
              <a:buNone/>
            </a:pPr>
            <a:r>
              <a:rPr lang="en-GB" sz="1050">
                <a:solidFill>
                  <a:srgbClr val="3C4043"/>
                </a:solidFill>
              </a:rPr>
              <a:t>Detecting such content at scale is difficult: it is often subtle, context-dependent, and constantly evolving.</a:t>
            </a:r>
            <a:endParaRPr sz="1050">
              <a:solidFill>
                <a:srgbClr val="3C4043"/>
              </a:solidFill>
            </a:endParaRPr>
          </a:p>
          <a:p>
            <a:pPr indent="0" lvl="0" marL="0" rtl="0" algn="l">
              <a:lnSpc>
                <a:spcPct val="115000"/>
              </a:lnSpc>
              <a:spcBef>
                <a:spcPts val="1200"/>
              </a:spcBef>
              <a:spcAft>
                <a:spcPts val="0"/>
              </a:spcAft>
              <a:buClr>
                <a:schemeClr val="dk1"/>
              </a:buClr>
              <a:buSzPts val="1100"/>
              <a:buFont typeface="Arial"/>
              <a:buNone/>
            </a:pPr>
            <a:r>
              <a:rPr lang="en-GB" sz="1050">
                <a:solidFill>
                  <a:srgbClr val="3C4043"/>
                </a:solidFill>
              </a:rPr>
              <a:t>In this challenge, a specialized research team provided an anonymized dataset of social media posts. </a:t>
            </a:r>
            <a:endParaRPr sz="1050">
              <a:solidFill>
                <a:srgbClr val="3C4043"/>
              </a:solidFill>
            </a:endParaRPr>
          </a:p>
          <a:p>
            <a:pPr indent="0" lvl="0" marL="0" rtl="0" algn="l">
              <a:lnSpc>
                <a:spcPct val="115000"/>
              </a:lnSpc>
              <a:spcBef>
                <a:spcPts val="1200"/>
              </a:spcBef>
              <a:spcAft>
                <a:spcPts val="0"/>
              </a:spcAft>
              <a:buClr>
                <a:schemeClr val="dk1"/>
              </a:buClr>
              <a:buSzPts val="1100"/>
              <a:buFont typeface="Arial"/>
              <a:buNone/>
            </a:pPr>
            <a:r>
              <a:rPr lang="en-GB" sz="1050">
                <a:solidFill>
                  <a:srgbClr val="3C4043"/>
                </a:solidFill>
              </a:rPr>
              <a:t>Each post has been labeled as either </a:t>
            </a:r>
            <a:r>
              <a:rPr b="1" lang="en-GB" sz="1050">
                <a:solidFill>
                  <a:srgbClr val="3C4043"/>
                </a:solidFill>
              </a:rPr>
              <a:t>EXTREMIST</a:t>
            </a:r>
            <a:r>
              <a:rPr lang="en-GB" sz="1050">
                <a:solidFill>
                  <a:srgbClr val="3C4043"/>
                </a:solidFill>
              </a:rPr>
              <a:t> or </a:t>
            </a:r>
            <a:r>
              <a:rPr b="1" lang="en-GB" sz="1050">
                <a:solidFill>
                  <a:srgbClr val="3C4043"/>
                </a:solidFill>
              </a:rPr>
              <a:t>NON_EXTREMIST</a:t>
            </a:r>
            <a:r>
              <a:rPr lang="en-GB" sz="1050">
                <a:solidFill>
                  <a:srgbClr val="3C4043"/>
                </a:solidFill>
              </a:rPr>
              <a:t> based on whether it clearly supports or promotes extremist organizations, ideologies, or violence. </a:t>
            </a:r>
            <a:endParaRPr sz="1050">
              <a:solidFill>
                <a:srgbClr val="3C4043"/>
              </a:solidFill>
            </a:endParaRPr>
          </a:p>
          <a:p>
            <a:pPr indent="0" lvl="0" marL="0" rtl="0" algn="l">
              <a:lnSpc>
                <a:spcPct val="115000"/>
              </a:lnSpc>
              <a:spcBef>
                <a:spcPts val="1200"/>
              </a:spcBef>
              <a:spcAft>
                <a:spcPts val="0"/>
              </a:spcAft>
              <a:buClr>
                <a:schemeClr val="dk1"/>
              </a:buClr>
              <a:buSzPts val="1100"/>
              <a:buFont typeface="Arial"/>
              <a:buNone/>
            </a:pPr>
            <a:r>
              <a:rPr lang="en-GB" sz="1050">
                <a:solidFill>
                  <a:srgbClr val="3C4043"/>
                </a:solidFill>
              </a:rPr>
              <a:t>By building models that can identify this content, participants contribute to research on safer online environments and more responsible AI systems.</a:t>
            </a:r>
            <a:endParaRPr sz="1050">
              <a:solidFill>
                <a:srgbClr val="3C4043"/>
              </a:solidFill>
            </a:endParaRPr>
          </a:p>
          <a:p>
            <a:pPr indent="0" lvl="0" marL="0" rtl="0" algn="l">
              <a:lnSpc>
                <a:spcPct val="115000"/>
              </a:lnSpc>
              <a:spcBef>
                <a:spcPts val="1200"/>
              </a:spcBef>
              <a:spcAft>
                <a:spcPts val="0"/>
              </a:spcAft>
              <a:buNone/>
            </a:pPr>
            <a:r>
              <a:rPr lang="en-GB" sz="1050">
                <a:solidFill>
                  <a:srgbClr val="3C4043"/>
                </a:solidFill>
              </a:rPr>
              <a:t>This competition is </a:t>
            </a:r>
            <a:r>
              <a:rPr b="1" lang="en-GB" sz="1050">
                <a:solidFill>
                  <a:srgbClr val="3C4043"/>
                </a:solidFill>
              </a:rPr>
              <a:t>educational and research-oriented</a:t>
            </a:r>
            <a:r>
              <a:rPr lang="en-GB" sz="1050">
                <a:solidFill>
                  <a:srgbClr val="3C4043"/>
                </a:solidFill>
              </a:rPr>
              <a:t>. It is not intended to be a complete production system, but rather a sandbox to explore modeling choices, fairness, robustness, and interpretability. </a:t>
            </a:r>
            <a:endParaRPr sz="1050">
              <a:solidFill>
                <a:srgbClr val="3C4043"/>
              </a:solidFill>
            </a:endParaRPr>
          </a:p>
          <a:p>
            <a:pPr indent="0" lvl="0" marL="0" rtl="0" algn="l">
              <a:lnSpc>
                <a:spcPct val="115000"/>
              </a:lnSpc>
              <a:spcBef>
                <a:spcPts val="1200"/>
              </a:spcBef>
              <a:spcAft>
                <a:spcPts val="0"/>
              </a:spcAft>
              <a:buNone/>
            </a:pPr>
            <a:r>
              <a:rPr lang="en-GB" sz="1050">
                <a:solidFill>
                  <a:srgbClr val="3C4043"/>
                </a:solidFill>
              </a:rPr>
              <a:t>The final score to judge how well the model does is chosen specifically as accuracy.</a:t>
            </a:r>
            <a:endParaRPr sz="1050">
              <a:solidFill>
                <a:srgbClr val="3C4043"/>
              </a:solidFill>
            </a:endParaRPr>
          </a:p>
          <a:p>
            <a:pPr indent="0" lvl="0" marL="0" rtl="0" algn="l">
              <a:lnSpc>
                <a:spcPct val="115000"/>
              </a:lnSpc>
              <a:spcBef>
                <a:spcPts val="1200"/>
              </a:spcBef>
              <a:spcAft>
                <a:spcPts val="0"/>
              </a:spcAft>
              <a:buNone/>
            </a:pPr>
            <a:r>
              <a:t/>
            </a:r>
            <a:endParaRPr sz="1050">
              <a:solidFill>
                <a:srgbClr val="3C4043"/>
              </a:solidFill>
            </a:endParaRPr>
          </a:p>
          <a:p>
            <a:pPr indent="0" lvl="0" marL="0" rtl="0" algn="l">
              <a:lnSpc>
                <a:spcPct val="115000"/>
              </a:lnSpc>
              <a:spcBef>
                <a:spcPts val="1200"/>
              </a:spcBef>
              <a:spcAft>
                <a:spcPts val="0"/>
              </a:spcAft>
              <a:buNone/>
            </a:pPr>
            <a:r>
              <a:t/>
            </a:r>
            <a:endParaRPr sz="1050">
              <a:solidFill>
                <a:srgbClr val="3C4043"/>
              </a:solidFill>
            </a:endParaRPr>
          </a:p>
          <a:p>
            <a:pPr indent="0" lvl="0" marL="0" rtl="0" algn="l">
              <a:lnSpc>
                <a:spcPct val="115000"/>
              </a:lnSpc>
              <a:spcBef>
                <a:spcPts val="1200"/>
              </a:spcBef>
              <a:spcAft>
                <a:spcPts val="0"/>
              </a:spcAft>
              <a:buClr>
                <a:schemeClr val="dk1"/>
              </a:buClr>
              <a:buSzPts val="1100"/>
              <a:buFont typeface="Arial"/>
              <a:buNone/>
            </a:pPr>
            <a:r>
              <a:rPr lang="en-GB" sz="1050">
                <a:solidFill>
                  <a:srgbClr val="3C4043"/>
                </a:solidFill>
              </a:rPr>
              <a:t>In other words perfect for a university project. It looked interesting</a:t>
            </a:r>
            <a:r>
              <a:rPr lang="en-GB" sz="1050">
                <a:solidFill>
                  <a:srgbClr val="3C4043"/>
                </a:solidFill>
              </a:rPr>
              <a:t> and </a:t>
            </a:r>
            <a:r>
              <a:rPr lang="en-GB" sz="1050">
                <a:solidFill>
                  <a:srgbClr val="3C4043"/>
                </a:solidFill>
              </a:rPr>
              <a:t>would provide enough challenge (not just the simple neural network example) while still keeping things in scope of the course</a:t>
            </a:r>
            <a:r>
              <a:rPr lang="en-GB" sz="1050">
                <a:solidFill>
                  <a:srgbClr val="3C4043"/>
                </a:solidFill>
              </a:rPr>
              <a:t>.</a:t>
            </a:r>
            <a:endParaRPr sz="1050">
              <a:solidFill>
                <a:srgbClr val="3C4043"/>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457de6446_0_1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c457de6446_0_1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C4043"/>
                </a:solidFill>
              </a:rPr>
              <a:t>The provided files are:</a:t>
            </a:r>
            <a:endParaRPr sz="1050">
              <a:solidFill>
                <a:srgbClr val="3C4043"/>
              </a:solidFill>
            </a:endParaRPr>
          </a:p>
          <a:p>
            <a:pPr indent="0" lvl="0" marL="0" rtl="0" algn="l">
              <a:spcBef>
                <a:spcPts val="0"/>
              </a:spcBef>
              <a:spcAft>
                <a:spcPts val="0"/>
              </a:spcAft>
              <a:buNone/>
            </a:pPr>
            <a:r>
              <a:rPr lang="en-GB" sz="1050">
                <a:solidFill>
                  <a:srgbClr val="3C4043"/>
                </a:solidFill>
              </a:rPr>
              <a:t>A Training file, </a:t>
            </a:r>
            <a:r>
              <a:rPr lang="en-GB">
                <a:solidFill>
                  <a:schemeClr val="dk1"/>
                </a:solidFill>
              </a:rPr>
              <a:t>c</a:t>
            </a:r>
            <a:r>
              <a:rPr lang="en-GB">
                <a:solidFill>
                  <a:schemeClr val="dk1"/>
                </a:solidFill>
              </a:rPr>
              <a:t>ontaining 2250 message texts and their corresponding label. </a:t>
            </a:r>
            <a:endParaRPr>
              <a:solidFill>
                <a:schemeClr val="dk1"/>
              </a:solidFill>
            </a:endParaRPr>
          </a:p>
          <a:p>
            <a:pPr indent="0" lvl="0" marL="0" rtl="0" algn="l">
              <a:spcBef>
                <a:spcPts val="0"/>
              </a:spcBef>
              <a:spcAft>
                <a:spcPts val="0"/>
              </a:spcAft>
              <a:buNone/>
            </a:pPr>
            <a:r>
              <a:rPr lang="en-GB">
                <a:solidFill>
                  <a:schemeClr val="dk1"/>
                </a:solidFill>
              </a:rPr>
              <a:t>A Test file, containing a message text with IDs for prediction and thus submission to Kaggle. </a:t>
            </a:r>
            <a:endParaRPr>
              <a:solidFill>
                <a:schemeClr val="dk1"/>
              </a:solidFill>
            </a:endParaRPr>
          </a:p>
          <a:p>
            <a:pPr indent="0" lvl="0" marL="0" rtl="0" algn="l">
              <a:spcBef>
                <a:spcPts val="0"/>
              </a:spcBef>
              <a:spcAft>
                <a:spcPts val="0"/>
              </a:spcAft>
              <a:buNone/>
            </a:pPr>
            <a:r>
              <a:rPr lang="en-GB">
                <a:solidFill>
                  <a:schemeClr val="dk1"/>
                </a:solidFill>
              </a:rPr>
              <a:t>And an Example Submission file, showing the expected output format.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All texts are</a:t>
            </a:r>
            <a:r>
              <a:rPr lang="en-GB" sz="1050">
                <a:solidFill>
                  <a:srgbClr val="3C4043"/>
                </a:solidFill>
              </a:rPr>
              <a:t> </a:t>
            </a:r>
            <a:r>
              <a:rPr lang="en-GB" sz="1050">
                <a:solidFill>
                  <a:srgbClr val="3C4043"/>
                </a:solidFill>
              </a:rPr>
              <a:t>anonymized, English-language social media posts sourced from a larger database of over 400,000 messages</a:t>
            </a:r>
            <a:r>
              <a:rPr lang="en-GB" sz="1050">
                <a:solidFill>
                  <a:srgbClr val="3C4043"/>
                </a:solidFill>
              </a:rPr>
              <a:t>, specifically the Hate Speech Detection Curated Dataset. </a:t>
            </a:r>
            <a:endParaRPr sz="1050">
              <a:solidFill>
                <a:srgbClr val="3C4043"/>
              </a:solidFill>
            </a:endParaRPr>
          </a:p>
          <a:p>
            <a:pPr indent="0" lvl="0" marL="0" rtl="0" algn="l">
              <a:spcBef>
                <a:spcPts val="0"/>
              </a:spcBef>
              <a:spcAft>
                <a:spcPts val="0"/>
              </a:spcAft>
              <a:buNone/>
            </a:pPr>
            <a:r>
              <a:rPr lang="en-GB" sz="1050">
                <a:solidFill>
                  <a:srgbClr val="3C4043"/>
                </a:solidFill>
              </a:rPr>
              <a:t>While not mentioned anywhere, it seems this dataset was already normalized beforehand including case folding, punctuation stripping and de-accenting. </a:t>
            </a:r>
            <a:endParaRPr sz="1050">
              <a:solidFill>
                <a:srgbClr val="3C4043"/>
              </a:solidFill>
            </a:endParaRPr>
          </a:p>
          <a:p>
            <a:pPr indent="0" lvl="0" marL="0" rtl="0" algn="l">
              <a:spcBef>
                <a:spcPts val="0"/>
              </a:spcBef>
              <a:spcAft>
                <a:spcPts val="0"/>
              </a:spcAft>
              <a:buNone/>
            </a:pPr>
            <a:r>
              <a:t/>
            </a:r>
            <a:endParaRPr sz="1050">
              <a:solidFill>
                <a:srgbClr val="3C4043"/>
              </a:solidFill>
            </a:endParaRPr>
          </a:p>
          <a:p>
            <a:pPr indent="0" lvl="0" marL="0" rtl="0" algn="l">
              <a:spcBef>
                <a:spcPts val="0"/>
              </a:spcBef>
              <a:spcAft>
                <a:spcPts val="0"/>
              </a:spcAft>
              <a:buNone/>
            </a:pPr>
            <a:r>
              <a:rPr lang="en-GB" sz="1050">
                <a:solidFill>
                  <a:srgbClr val="3C4043"/>
                </a:solidFill>
              </a:rPr>
              <a:t>A research team hand-labeled the posts. </a:t>
            </a:r>
            <a:endParaRPr sz="1050">
              <a:solidFill>
                <a:srgbClr val="3C4043"/>
              </a:solidFill>
            </a:endParaRPr>
          </a:p>
          <a:p>
            <a:pPr indent="0" lvl="0" marL="0" rtl="0" algn="l">
              <a:spcBef>
                <a:spcPts val="0"/>
              </a:spcBef>
              <a:spcAft>
                <a:spcPts val="0"/>
              </a:spcAft>
              <a:buNone/>
            </a:pPr>
            <a:r>
              <a:rPr lang="en-GB" sz="1050">
                <a:solidFill>
                  <a:srgbClr val="3C4043"/>
                </a:solidFill>
              </a:rPr>
              <a:t>The authors state that human error is possible. </a:t>
            </a:r>
            <a:endParaRPr sz="1050">
              <a:solidFill>
                <a:srgbClr val="3C4043"/>
              </a:solidFill>
            </a:endParaRPr>
          </a:p>
          <a:p>
            <a:pPr indent="0" lvl="0" marL="0" rtl="0" algn="l">
              <a:spcBef>
                <a:spcPts val="0"/>
              </a:spcBef>
              <a:spcAft>
                <a:spcPts val="0"/>
              </a:spcAft>
              <a:buNone/>
            </a:pPr>
            <a:r>
              <a:rPr lang="en-GB" sz="1050">
                <a:solidFill>
                  <a:srgbClr val="3C4043"/>
                </a:solidFill>
              </a:rPr>
              <a:t>A post was classified as extremist if it clearly advocated for significant harm, supported extremist organizations, or promoted violent ideologies. </a:t>
            </a:r>
            <a:endParaRPr sz="1050">
              <a:solidFill>
                <a:srgbClr val="3C4043"/>
              </a:solidFill>
            </a:endParaRPr>
          </a:p>
          <a:p>
            <a:pPr indent="0" lvl="0" marL="0" rtl="0" algn="l">
              <a:spcBef>
                <a:spcPts val="0"/>
              </a:spcBef>
              <a:spcAft>
                <a:spcPts val="0"/>
              </a:spcAft>
              <a:buNone/>
            </a:pPr>
            <a:r>
              <a:rPr lang="en-GB" sz="1050">
                <a:solidFill>
                  <a:srgbClr val="3C4043"/>
                </a:solidFill>
              </a:rPr>
              <a:t>Of those 2250 Texts, 1150 are </a:t>
            </a:r>
            <a:r>
              <a:rPr lang="en-GB">
                <a:solidFill>
                  <a:schemeClr val="dk1"/>
                </a:solidFill>
              </a:rPr>
              <a:t>labeled for the presence of extremism at (52%) and 1100 for absence at (48%).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sz="1050">
                <a:solidFill>
                  <a:srgbClr val="3C4043"/>
                </a:solidFill>
              </a:rPr>
              <a:t>We will get back to this later but the test set was not having the same balance.</a:t>
            </a:r>
            <a:endParaRPr sz="1050">
              <a:solidFill>
                <a:srgbClr val="3C4043"/>
              </a:solidFill>
            </a:endParaRPr>
          </a:p>
          <a:p>
            <a:pPr indent="0" lvl="0" marL="0" rtl="0" algn="l">
              <a:spcBef>
                <a:spcPts val="0"/>
              </a:spcBef>
              <a:spcAft>
                <a:spcPts val="0"/>
              </a:spcAft>
              <a:buNone/>
            </a:pPr>
            <a:r>
              <a:t/>
            </a:r>
            <a:endParaRPr sz="1050">
              <a:solidFill>
                <a:srgbClr val="3C4043"/>
              </a:solidFill>
            </a:endParaRPr>
          </a:p>
          <a:p>
            <a:pPr indent="0" lvl="0" marL="0" rtl="0" algn="l">
              <a:spcBef>
                <a:spcPts val="0"/>
              </a:spcBef>
              <a:spcAft>
                <a:spcPts val="0"/>
              </a:spcAft>
              <a:buNone/>
            </a:pPr>
            <a:r>
              <a:t/>
            </a:r>
            <a:endParaRPr sz="1050">
              <a:solidFill>
                <a:srgbClr val="3C4043"/>
              </a:solidFill>
            </a:endParaRPr>
          </a:p>
          <a:p>
            <a:pPr indent="0" lvl="0" marL="0" rtl="0" algn="l">
              <a:spcBef>
                <a:spcPts val="0"/>
              </a:spcBef>
              <a:spcAft>
                <a:spcPts val="0"/>
              </a:spcAft>
              <a:buNone/>
            </a:pPr>
            <a:r>
              <a:t/>
            </a:r>
            <a:endParaRPr sz="1050">
              <a:solidFill>
                <a:srgbClr val="3C4043"/>
              </a:solidFill>
            </a:endParaRPr>
          </a:p>
          <a:p>
            <a:pPr indent="0" lvl="0" marL="0" rtl="0" algn="l">
              <a:spcBef>
                <a:spcPts val="0"/>
              </a:spcBef>
              <a:spcAft>
                <a:spcPts val="0"/>
              </a:spcAft>
              <a:buNone/>
            </a:pPr>
            <a:r>
              <a:t/>
            </a:r>
            <a:endParaRPr sz="1050">
              <a:solidFill>
                <a:srgbClr val="3C4043"/>
              </a:solidFill>
            </a:endParaRPr>
          </a:p>
          <a:p>
            <a:pPr indent="0" lvl="0" marL="0" rtl="0" algn="l">
              <a:spcBef>
                <a:spcPts val="0"/>
              </a:spcBef>
              <a:spcAft>
                <a:spcPts val="0"/>
              </a:spcAft>
              <a:buNone/>
            </a:pPr>
            <a:r>
              <a:rPr lang="en-GB" sz="1050">
                <a:solidFill>
                  <a:srgbClr val="3C4043"/>
                </a:solidFill>
              </a:rPr>
              <a:t>(ALL EXTREMIST 0.2240 &lt;- dont say)</a:t>
            </a:r>
            <a:endParaRPr sz="1050">
              <a:solidFill>
                <a:srgbClr val="3C4043"/>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457de6446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457de6446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sz="1050">
              <a:solidFill>
                <a:srgbClr val="3C4043"/>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457de6446_0_1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457de6446_0_1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050">
                <a:solidFill>
                  <a:srgbClr val="3C4043"/>
                </a:solidFill>
              </a:rPr>
              <a:t>The base model consists of a BERT-style transformer body with a small linear classifier head. </a:t>
            </a:r>
            <a:endParaRPr sz="1050">
              <a:solidFill>
                <a:srgbClr val="3C4043"/>
              </a:solidFill>
            </a:endParaRPr>
          </a:p>
          <a:p>
            <a:pPr indent="0" lvl="0" marL="0" rtl="0" algn="l">
              <a:spcBef>
                <a:spcPts val="0"/>
              </a:spcBef>
              <a:spcAft>
                <a:spcPts val="0"/>
              </a:spcAft>
              <a:buNone/>
            </a:pPr>
            <a:r>
              <a:rPr lang="en-GB" sz="1050">
                <a:solidFill>
                  <a:srgbClr val="3C4043"/>
                </a:solidFill>
              </a:rPr>
              <a:t>The body is obviously pretrained, while the head is trained from scratch, and will combine the BERT Embeddings output as well as learn what extremism is. </a:t>
            </a:r>
            <a:endParaRPr sz="1050">
              <a:solidFill>
                <a:srgbClr val="3C4043"/>
              </a:solidFill>
            </a:endParaRPr>
          </a:p>
          <a:p>
            <a:pPr indent="0" lvl="0" marL="0" rtl="0" algn="l">
              <a:spcBef>
                <a:spcPts val="0"/>
              </a:spcBef>
              <a:spcAft>
                <a:spcPts val="0"/>
              </a:spcAft>
              <a:buNone/>
            </a:pPr>
            <a:r>
              <a:t/>
            </a:r>
            <a:endParaRPr sz="1050">
              <a:solidFill>
                <a:srgbClr val="3C4043"/>
              </a:solidFill>
            </a:endParaRPr>
          </a:p>
          <a:p>
            <a:pPr indent="0" lvl="0" marL="0" rtl="0" algn="l">
              <a:spcBef>
                <a:spcPts val="0"/>
              </a:spcBef>
              <a:spcAft>
                <a:spcPts val="0"/>
              </a:spcAft>
              <a:buNone/>
            </a:pPr>
            <a:r>
              <a:rPr lang="en-GB" sz="1050">
                <a:solidFill>
                  <a:srgbClr val="3C4043"/>
                </a:solidFill>
              </a:rPr>
              <a:t>Binary Cross Entropy is used as the loss, and AdamW as the optimizer, with a low learning rate of 1e-5, to fine-tune the body slowly, and avoid destroying pretrained knowledge. </a:t>
            </a:r>
            <a:endParaRPr sz="1050">
              <a:solidFill>
                <a:srgbClr val="3C4043"/>
              </a:solidFill>
            </a:endParaRPr>
          </a:p>
          <a:p>
            <a:pPr indent="0" lvl="0" marL="0" rtl="0" algn="l">
              <a:spcBef>
                <a:spcPts val="0"/>
              </a:spcBef>
              <a:spcAft>
                <a:spcPts val="0"/>
              </a:spcAft>
              <a:buNone/>
            </a:pPr>
            <a:r>
              <a:t/>
            </a:r>
            <a:endParaRPr sz="1050">
              <a:solidFill>
                <a:srgbClr val="3C4043"/>
              </a:solidFill>
            </a:endParaRPr>
          </a:p>
          <a:p>
            <a:pPr indent="0" lvl="0" marL="0" rtl="0" algn="l">
              <a:spcBef>
                <a:spcPts val="0"/>
              </a:spcBef>
              <a:spcAft>
                <a:spcPts val="0"/>
              </a:spcAft>
              <a:buNone/>
            </a:pPr>
            <a:r>
              <a:rPr lang="en-GB" sz="1050">
                <a:solidFill>
                  <a:srgbClr val="3C4043"/>
                </a:solidFill>
              </a:rPr>
              <a:t>Overfitting is a risk, due to the small dataset, and millions of parameters, so weight decay and early stopping (patience = 3 epochs) are applied, and only the model with the lowest validation loss is saved.</a:t>
            </a:r>
            <a:endParaRPr sz="1050">
              <a:solidFill>
                <a:srgbClr val="3C4043"/>
              </a:solidFill>
            </a:endParaRPr>
          </a:p>
          <a:p>
            <a:pPr indent="0" lvl="0" marL="0" rtl="0" algn="l">
              <a:spcBef>
                <a:spcPts val="0"/>
              </a:spcBef>
              <a:spcAft>
                <a:spcPts val="0"/>
              </a:spcAft>
              <a:buNone/>
            </a:pPr>
            <a:r>
              <a:t/>
            </a:r>
            <a:endParaRPr sz="1050">
              <a:solidFill>
                <a:srgbClr val="3C4043"/>
              </a:solidFill>
            </a:endParaRPr>
          </a:p>
          <a:p>
            <a:pPr indent="0" lvl="0" marL="0" rtl="0" algn="l">
              <a:spcBef>
                <a:spcPts val="0"/>
              </a:spcBef>
              <a:spcAft>
                <a:spcPts val="0"/>
              </a:spcAft>
              <a:buNone/>
            </a:pPr>
            <a:r>
              <a:rPr lang="en-GB" sz="1050">
                <a:solidFill>
                  <a:srgbClr val="3C4043"/>
                </a:solidFill>
              </a:rPr>
              <a:t>Initial runs with a frozen body, yielded about 60% accuracy, highlighting the need to unfreeze the transformer to allow gradients to update its weights. </a:t>
            </a:r>
            <a:endParaRPr sz="1050">
              <a:solidFill>
                <a:srgbClr val="3C4043"/>
              </a:solidFill>
            </a:endParaRPr>
          </a:p>
          <a:p>
            <a:pPr indent="0" lvl="0" marL="0" rtl="0" algn="l">
              <a:spcBef>
                <a:spcPts val="0"/>
              </a:spcBef>
              <a:spcAft>
                <a:spcPts val="0"/>
              </a:spcAft>
              <a:buNone/>
            </a:pPr>
            <a:r>
              <a:rPr lang="en-GB" sz="1050">
                <a:solidFill>
                  <a:srgbClr val="3C4043"/>
                </a:solidFill>
              </a:rPr>
              <a:t>Now the original model is being Fine-Tuned to the problem and slightly different language style, instead of just using feature extraction. </a:t>
            </a:r>
            <a:endParaRPr sz="1050">
              <a:solidFill>
                <a:srgbClr val="3C4043"/>
              </a:solidFill>
            </a:endParaRPr>
          </a:p>
          <a:p>
            <a:pPr indent="0" lvl="0" marL="0" rtl="0" algn="l">
              <a:spcBef>
                <a:spcPts val="0"/>
              </a:spcBef>
              <a:spcAft>
                <a:spcPts val="0"/>
              </a:spcAft>
              <a:buNone/>
            </a:pPr>
            <a:r>
              <a:rPr lang="en-GB" sz="1050">
                <a:solidFill>
                  <a:srgbClr val="3C4043"/>
                </a:solidFill>
              </a:rPr>
              <a:t>The accuracy increased to about 70%.</a:t>
            </a:r>
            <a:endParaRPr sz="1050">
              <a:solidFill>
                <a:srgbClr val="3C4043"/>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457de6446_0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c457de6446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457de6446_0_1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457de6446_0_1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There are multiple experiments that we tried in order to improve upon this prototype concept. A first thing to note is how we measured performance. At first we just looked at the accuracy, but after doing some submissions in Kaggle, we noticed the results were different. Some higher accuracy on the validation (by the way we used an 80-20 split) gave lower accuracy on the test and opposite. We realized that the model was not generalizing well so instead we looked at the validation loss which was more representative and stable. This was just for training purposes. For finally deciding which specific version to go with we looked at the test accuracy, as it captures good generalization the best.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Anyways, the first main experiment was trying out different flavours of the BERT model, and not just use the basic one. We also tried RoBERTa, HateBERT and BERTweet which were trained on a dataset with domain more closely related to our problem. RoBERTa and BERTweet performed best, with HateBERT </a:t>
            </a:r>
            <a:r>
              <a:rPr lang="en-GB"/>
              <a:t>surprisingly</a:t>
            </a:r>
            <a:r>
              <a:rPr lang="en-GB"/>
              <a:t> bad. Probably because it does not fully cover broader linguistics found in extremist posts. It was trained too much on ónly hate speech. Also hate and extremism are not the same.</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457de6446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c457de6446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As for the model structure, there were 3 more experiments. For the head architecture, we noticed it was sufficient to keep it small and simple. Not a lot of complex relationships are to be discovered because the transformer body already captures the majority of the task-relevant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Here you can see that we also added a dropout layer, with an optimum around 0.5, leading to a 3% increase. It is also another proof that regularization was desperately needed.</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457de6446_0_1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c457de6446_0_1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Finally we read something interesting about the BERT transformer that delves a bit deeper into how it works and is more research based. It was difficult, and still kind of is, to understand but as the transformer was such a big part of the project we wanted to include it.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When a transformer processes text, it outputs a vector for every single word in the input. However, a classifier requires one fixed-size input to make a decision. Pooling is the bridge that turns a sequence of many vectors into that one necessary summary.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t>In BERT, a special token CLS (classification) is added to the start of each sentence which will be used for pooling. The model is trained to aggregate the overall meaning of the sentence into this specific vector. It does this by applying self-attention. However, the dataset was Wikipedia, where for example the word ‘die’ is treated less important as it is just another fact (pre-train bias). But we have social media texts, and we want to put a lot of attention to that word. One way to re-train self-attention was unfreezing which gave good results. So now maybe we can complement it by using mean pooling? Mean pooling </a:t>
            </a:r>
            <a:r>
              <a:rPr lang="en-GB">
                <a:solidFill>
                  <a:schemeClr val="dk1"/>
                </a:solidFill>
              </a:rPr>
              <a:t>takes the mathematical average of all these vectors for each word. Because ‘die’ has a very distinct high magnitude in certain dimensions, its presence will shift the entire average of the sentence, even if the model's attention was focused elsewhere, so it can’t be ignored.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457de6446_0_1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c457de6446_0_1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Another related thing is that transformers consist of multiple stacked layers (12 layers for BERT-base), and typically we just use the last layer as that makes the most sense; contains the most refined, abstract features intended for the task. However instead we could look at the last three layers too. This might be useful as the last layer can be too specialized. We allow the model to choose which layer to put most attention to.</a:t>
            </a:r>
            <a:br>
              <a:rPr lang="en-GB"/>
            </a:br>
            <a:br>
              <a:rPr lang="en-GB"/>
            </a:br>
            <a:r>
              <a:rPr lang="en-GB"/>
              <a:t>Thus we arrive at the 4 listed experiments. Mean pooling tended to outperform CLS pooling slightly, but the results for attention-based layer aggregation or not were too similar to make conclusions.</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457de6446_0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c457de6446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In the base model, the same small learning rate was used for both the transformer body and the classification head. We tried separating the learning rate and using things like warm-up schedules and while it was more stable, their impact on the final accuracy was minimal.</a:t>
            </a:r>
            <a:br>
              <a:rPr lang="en-GB">
                <a:solidFill>
                  <a:schemeClr val="dk1"/>
                </a:solidFill>
              </a:rPr>
            </a:br>
            <a:br>
              <a:rPr lang="en-GB">
                <a:solidFill>
                  <a:schemeClr val="dk1"/>
                </a:solidFill>
              </a:rPr>
            </a:br>
            <a:r>
              <a:rPr lang="en-GB">
                <a:solidFill>
                  <a:schemeClr val="dk1"/>
                </a:solidFill>
              </a:rPr>
              <a:t>We also tried data augmentation as the small size of the dataset was obviously a big bottleneck. Backtranslation, NER entity swapping, and adversarial smart swapping were applied. While we expected a lot from this, the results were meager. After doing some research we noticed contextual word substitution, random insertion,</a:t>
            </a:r>
            <a:endParaRPr>
              <a:solidFill>
                <a:schemeClr val="dk1"/>
              </a:solidFill>
            </a:endParaRPr>
          </a:p>
          <a:p>
            <a:pPr indent="0" lvl="0" marL="0" rtl="0" algn="l">
              <a:spcBef>
                <a:spcPts val="0"/>
              </a:spcBef>
              <a:spcAft>
                <a:spcPts val="0"/>
              </a:spcAft>
              <a:buNone/>
            </a:pPr>
            <a:r>
              <a:rPr lang="en-GB">
                <a:solidFill>
                  <a:schemeClr val="dk1"/>
                </a:solidFill>
              </a:rPr>
              <a:t>swap, deletion, etc yielded more substantial improvements. So instead of targeted entity-level augmentations introducing diverse lexical and structural variations is more effective for generalization in this case.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457de6446_0_1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457de6446_0_1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Just two more experiments.</a:t>
            </a:r>
            <a:br>
              <a:rPr lang="en-GB">
                <a:solidFill>
                  <a:schemeClr val="dk1"/>
                </a:solidFill>
              </a:rPr>
            </a:br>
            <a:br>
              <a:rPr lang="en-GB">
                <a:solidFill>
                  <a:schemeClr val="dk1"/>
                </a:solidFill>
              </a:rPr>
            </a:br>
            <a:r>
              <a:rPr lang="en-GB">
                <a:solidFill>
                  <a:schemeClr val="dk1"/>
                </a:solidFill>
              </a:rPr>
              <a:t>A five-fold cross-validation with soft voting encouraged the model to learn patterns that generalize better and reduce overfitting. Also just to make use of all the data. This led to a clear and very consistent improvement.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Finally, if you remember we talked that the test set had a </a:t>
            </a:r>
            <a:r>
              <a:rPr lang="en-GB">
                <a:solidFill>
                  <a:schemeClr val="dk1"/>
                </a:solidFill>
              </a:rPr>
              <a:t>imbalance</a:t>
            </a:r>
            <a:r>
              <a:rPr lang="en-GB">
                <a:solidFill>
                  <a:schemeClr val="dk1"/>
                </a:solidFill>
              </a:rPr>
              <a:t> compared to the training set? To account for this, kind of a cheat to boost accuracy, weighted learning, adjusting the loss weights during training, giving more importance to non-extremist examples, was used.</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c457de6446_0_1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c457de6446_0_1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Now, I will admit we were very naive. We expected that if we took the best version of each experiment and combined them all, we would have a very good model. However the results were worse than before even. Coming in at 73% accuracy while we expected about 80. This meant we took place 40 out of 164 contestants. Not bad but still. We didn’t account for the fact that different experiments would influence each other in complex ways. Even after testing some more different combinations, the highest achievable was 77%. This does suggest however that without better data augmentation because we tried so many things, the highest achievable is probably about 80%.</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c457de6446_0_1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c457de6446_0_1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To summarize our gained experience for this project:</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Choosing a good transformer model for the problem is essential. The head classifier is often quite simple. Changes to this known setup and architecture are not often impactful, better to find improvements elsewhere.</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Validation loss can be a better metric than validation accuracy, even though high accuracy is what we need.</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Data augmentation is tricky and requires care and understanding</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457de6446_0_1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c457de6446_0_1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To summarize our gained experience for this project:</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Cross-validation is almost always a good thing to do, as well as adding some dropout regularization</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Understanding of NLP for classification using a text transformer like BERT</a:t>
            </a:r>
            <a:endParaRPr>
              <a:solidFill>
                <a:schemeClr val="dk1"/>
              </a:solidFill>
            </a:endParaRPr>
          </a:p>
          <a:p>
            <a:pPr indent="-298450" lvl="0" marL="457200" rtl="0" algn="l">
              <a:spcBef>
                <a:spcPts val="0"/>
              </a:spcBef>
              <a:spcAft>
                <a:spcPts val="0"/>
              </a:spcAft>
              <a:buClr>
                <a:schemeClr val="dk1"/>
              </a:buClr>
              <a:buSzPts val="1100"/>
              <a:buChar char="-"/>
            </a:pPr>
            <a:r>
              <a:rPr lang="en-GB">
                <a:solidFill>
                  <a:schemeClr val="dk1"/>
                </a:solidFill>
              </a:rPr>
              <a:t>Optimization is complex. Summing distinct well-performing changes will not necessarily lead to a good model.</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c457de6446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c457de6446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docs.google.com/document/d/1j0YE3c0irvEGqSvATcBYdsKccV0H0Ur0EZAv_qj9ySs/preview" TargetMode="External"/><Relationship Id="rId4" Type="http://schemas.openxmlformats.org/officeDocument/2006/relationships/hyperlink" Target="https://www.kaggle.com/competitions/social-media-extremism-detection-challenge" TargetMode="External"/><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hyperlink" Target="https://aditya007.medium.com/understanding-the-cls-token-in-bert-a-comprehensive-guide-a62b3b94a941"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researchgate.net/publication/393321304_Comparative_analysis_of_model_compression_techniques_for_achieving_carbon_efficient_AI" TargetMode="Externa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7" name="Shape 127"/>
        <p:cNvGrpSpPr/>
        <p:nvPr/>
      </p:nvGrpSpPr>
      <p:grpSpPr>
        <a:xfrm>
          <a:off x="0" y="0"/>
          <a:ext cx="0" cy="0"/>
          <a:chOff x="0" y="0"/>
          <a:chExt cx="0" cy="0"/>
        </a:xfrm>
      </p:grpSpPr>
      <p:sp>
        <p:nvSpPr>
          <p:cNvPr id="128" name="Google Shape;128;p1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Muhamad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p:nvPr/>
        </p:nvSpPr>
        <p:spPr>
          <a:xfrm>
            <a:off x="5994900" y="213463"/>
            <a:ext cx="2916600" cy="1458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4" name="Google Shape;134;p14"/>
          <p:cNvSpPr/>
          <p:nvPr/>
        </p:nvSpPr>
        <p:spPr>
          <a:xfrm>
            <a:off x="225525" y="3479350"/>
            <a:ext cx="2916600" cy="1458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5" name="Google Shape;135;p14"/>
          <p:cNvSpPr txBox="1"/>
          <p:nvPr>
            <p:ph idx="1" type="subTitle"/>
          </p:nvPr>
        </p:nvSpPr>
        <p:spPr>
          <a:xfrm>
            <a:off x="363200" y="3035101"/>
            <a:ext cx="8520600" cy="833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400"/>
              <a:t>Ruben Vandamme &amp; Muhamad Khatib</a:t>
            </a:r>
            <a:endParaRPr sz="2400"/>
          </a:p>
          <a:p>
            <a:pPr indent="0" lvl="0" marL="0" rtl="0" algn="ctr">
              <a:lnSpc>
                <a:spcPct val="300000"/>
              </a:lnSpc>
              <a:spcBef>
                <a:spcPts val="0"/>
              </a:spcBef>
              <a:spcAft>
                <a:spcPts val="0"/>
              </a:spcAft>
              <a:buNone/>
            </a:pPr>
            <a:r>
              <a:rPr lang="en-GB" sz="1700"/>
              <a:t>    Student-ids: 936753 &amp; 941094</a:t>
            </a:r>
            <a:endParaRPr sz="2400"/>
          </a:p>
        </p:txBody>
      </p:sp>
      <p:sp>
        <p:nvSpPr>
          <p:cNvPr id="136" name="Google Shape;136;p14"/>
          <p:cNvSpPr txBox="1"/>
          <p:nvPr/>
        </p:nvSpPr>
        <p:spPr>
          <a:xfrm>
            <a:off x="363200" y="4311225"/>
            <a:ext cx="4809900" cy="5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100">
                <a:solidFill>
                  <a:schemeClr val="dk2"/>
                </a:solidFill>
              </a:rPr>
              <a:t>Department of Computer Science, Systems and Communication (DISCo)</a:t>
            </a:r>
            <a:endParaRPr sz="1100">
              <a:solidFill>
                <a:schemeClr val="dk2"/>
              </a:solidFill>
            </a:endParaRPr>
          </a:p>
          <a:p>
            <a:pPr indent="0" lvl="0" marL="0" rtl="0" algn="l">
              <a:spcBef>
                <a:spcPts val="0"/>
              </a:spcBef>
              <a:spcAft>
                <a:spcPts val="0"/>
              </a:spcAft>
              <a:buNone/>
            </a:pPr>
            <a:r>
              <a:rPr lang="en-GB" sz="1100">
                <a:solidFill>
                  <a:schemeClr val="dk2"/>
                </a:solidFill>
              </a:rPr>
              <a:t>2e Master in Informatics</a:t>
            </a:r>
            <a:endParaRPr sz="1100">
              <a:solidFill>
                <a:schemeClr val="dk2"/>
              </a:solidFill>
            </a:endParaRPr>
          </a:p>
          <a:p>
            <a:pPr indent="0" lvl="0" marL="0" rtl="0" algn="l">
              <a:spcBef>
                <a:spcPts val="0"/>
              </a:spcBef>
              <a:spcAft>
                <a:spcPts val="0"/>
              </a:spcAft>
              <a:buNone/>
            </a:pPr>
            <a:r>
              <a:t/>
            </a:r>
            <a:endParaRPr sz="1100">
              <a:solidFill>
                <a:schemeClr val="dk2"/>
              </a:solidFill>
            </a:endParaRPr>
          </a:p>
        </p:txBody>
      </p:sp>
      <p:sp>
        <p:nvSpPr>
          <p:cNvPr id="137" name="Google Shape;137;p14">
            <a:hlinkClick r:id="rId3"/>
          </p:cNvPr>
          <p:cNvSpPr txBox="1"/>
          <p:nvPr/>
        </p:nvSpPr>
        <p:spPr>
          <a:xfrm>
            <a:off x="5480400" y="4179825"/>
            <a:ext cx="3351900" cy="653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b="1" lang="en-GB" sz="1100">
                <a:solidFill>
                  <a:schemeClr val="dk2"/>
                </a:solidFill>
              </a:rPr>
              <a:t>Advanced Machine Learning (F1801Q151)</a:t>
            </a:r>
            <a:endParaRPr b="1" sz="1100">
              <a:solidFill>
                <a:schemeClr val="dk2"/>
              </a:solidFill>
            </a:endParaRPr>
          </a:p>
          <a:p>
            <a:pPr indent="0" lvl="0" marL="0" rtl="0" algn="r">
              <a:spcBef>
                <a:spcPts val="0"/>
              </a:spcBef>
              <a:spcAft>
                <a:spcPts val="0"/>
              </a:spcAft>
              <a:buNone/>
            </a:pPr>
            <a:r>
              <a:rPr lang="en-GB" sz="1100">
                <a:solidFill>
                  <a:schemeClr val="dk2"/>
                </a:solidFill>
              </a:rPr>
              <a:t>Prof. Simone Bianco &amp; Prof. Vincenzina Messina</a:t>
            </a:r>
            <a:endParaRPr sz="1100">
              <a:solidFill>
                <a:schemeClr val="dk2"/>
              </a:solidFill>
            </a:endParaRPr>
          </a:p>
          <a:p>
            <a:pPr indent="0" lvl="0" marL="0" rtl="0" algn="r">
              <a:spcBef>
                <a:spcPts val="0"/>
              </a:spcBef>
              <a:spcAft>
                <a:spcPts val="0"/>
              </a:spcAft>
              <a:buNone/>
            </a:pPr>
            <a:r>
              <a:rPr lang="en-GB" sz="1100">
                <a:solidFill>
                  <a:schemeClr val="dk2"/>
                </a:solidFill>
              </a:rPr>
              <a:t>Academic year 2025-2026</a:t>
            </a:r>
            <a:endParaRPr sz="1100">
              <a:solidFill>
                <a:schemeClr val="dk2"/>
              </a:solidFill>
            </a:endParaRPr>
          </a:p>
        </p:txBody>
      </p:sp>
      <p:sp>
        <p:nvSpPr>
          <p:cNvPr id="138" name="Google Shape;138;p14"/>
          <p:cNvSpPr txBox="1"/>
          <p:nvPr>
            <p:ph idx="1" type="subTitle"/>
          </p:nvPr>
        </p:nvSpPr>
        <p:spPr>
          <a:xfrm>
            <a:off x="311700" y="2097638"/>
            <a:ext cx="8520600" cy="79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605"/>
              <a:buNone/>
            </a:pPr>
            <a:r>
              <a:rPr b="1" lang="en-GB" sz="3440" u="sng">
                <a:solidFill>
                  <a:schemeClr val="hlink"/>
                </a:solidFill>
                <a:hlinkClick r:id="rId4"/>
              </a:rPr>
              <a:t>Social Media Extremism Detection</a:t>
            </a:r>
            <a:endParaRPr b="1" sz="3440"/>
          </a:p>
        </p:txBody>
      </p:sp>
      <p:pic>
        <p:nvPicPr>
          <p:cNvPr id="139" name="Google Shape;139;p14"/>
          <p:cNvPicPr preferRelativeResize="0"/>
          <p:nvPr/>
        </p:nvPicPr>
        <p:blipFill>
          <a:blip r:embed="rId5">
            <a:alphaModFix/>
          </a:blip>
          <a:stretch>
            <a:fillRect/>
          </a:stretch>
        </p:blipFill>
        <p:spPr>
          <a:xfrm>
            <a:off x="7670975" y="429475"/>
            <a:ext cx="1003800" cy="1079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What is the challenge about?</a:t>
            </a:r>
            <a:endParaRPr/>
          </a:p>
        </p:txBody>
      </p:sp>
      <p:sp>
        <p:nvSpPr>
          <p:cNvPr id="145" name="Google Shape;145;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Extremism is subtle, context-dependent, and constantly evolving</a:t>
            </a:r>
            <a:endParaRPr/>
          </a:p>
          <a:p>
            <a:pPr indent="-311150" lvl="0" marL="457200" rtl="0" algn="l">
              <a:spcBef>
                <a:spcPts val="0"/>
              </a:spcBef>
              <a:spcAft>
                <a:spcPts val="0"/>
              </a:spcAft>
              <a:buSzPts val="1300"/>
              <a:buChar char="●"/>
            </a:pPr>
            <a:r>
              <a:rPr lang="en-GB"/>
              <a:t>A</a:t>
            </a:r>
            <a:r>
              <a:rPr lang="en-GB"/>
              <a:t>nonymized dataset of social media posts</a:t>
            </a:r>
            <a:endParaRPr/>
          </a:p>
          <a:p>
            <a:pPr indent="-311150" lvl="0" marL="457200" rtl="0" algn="l">
              <a:spcBef>
                <a:spcPts val="0"/>
              </a:spcBef>
              <a:spcAft>
                <a:spcPts val="0"/>
              </a:spcAft>
              <a:buSzPts val="1300"/>
              <a:buChar char="●"/>
            </a:pPr>
            <a:r>
              <a:rPr lang="en-GB"/>
              <a:t>Educational and research-based</a:t>
            </a:r>
            <a:endParaRPr/>
          </a:p>
          <a:p>
            <a:pPr indent="-311150" lvl="0" marL="457200" rtl="0" algn="l">
              <a:spcBef>
                <a:spcPts val="0"/>
              </a:spcBef>
              <a:spcAft>
                <a:spcPts val="0"/>
              </a:spcAft>
              <a:buSzPts val="1300"/>
              <a:buChar char="●"/>
            </a:pPr>
            <a:r>
              <a:rPr lang="en-GB"/>
              <a:t>Accuracy as a judge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 Dataset</a:t>
            </a:r>
            <a:endParaRPr/>
          </a:p>
        </p:txBody>
      </p:sp>
      <p:sp>
        <p:nvSpPr>
          <p:cNvPr id="151" name="Google Shape;151;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Train (2250 texts + label), Test (IDS for prediction)</a:t>
            </a:r>
            <a:r>
              <a:rPr lang="en-GB"/>
              <a:t>,</a:t>
            </a:r>
            <a:r>
              <a:rPr lang="en-GB"/>
              <a:t> Example Submission</a:t>
            </a:r>
            <a:endParaRPr/>
          </a:p>
          <a:p>
            <a:pPr indent="-311150" lvl="0" marL="457200" rtl="0" algn="l">
              <a:spcBef>
                <a:spcPts val="0"/>
              </a:spcBef>
              <a:spcAft>
                <a:spcPts val="0"/>
              </a:spcAft>
              <a:buSzPts val="1300"/>
              <a:buChar char="●"/>
            </a:pPr>
            <a:r>
              <a:rPr lang="en-GB"/>
              <a:t>A</a:t>
            </a:r>
            <a:r>
              <a:rPr lang="en-GB"/>
              <a:t>nonymized, English-language social media posts -&gt; Hate Speech Detection Curated Dataset</a:t>
            </a:r>
            <a:endParaRPr/>
          </a:p>
          <a:p>
            <a:pPr indent="-311150" lvl="0" marL="457200" rtl="0" algn="l">
              <a:spcBef>
                <a:spcPts val="0"/>
              </a:spcBef>
              <a:spcAft>
                <a:spcPts val="0"/>
              </a:spcAft>
              <a:buSzPts val="1300"/>
              <a:buChar char="●"/>
            </a:pPr>
            <a:r>
              <a:rPr lang="en-GB"/>
              <a:t>Already normalized</a:t>
            </a:r>
            <a:endParaRPr/>
          </a:p>
          <a:p>
            <a:pPr indent="-311150" lvl="0" marL="457200" rtl="0" algn="l">
              <a:spcBef>
                <a:spcPts val="0"/>
              </a:spcBef>
              <a:spcAft>
                <a:spcPts val="0"/>
              </a:spcAft>
              <a:buSzPts val="1300"/>
              <a:buChar char="●"/>
            </a:pPr>
            <a:r>
              <a:rPr lang="en-GB"/>
              <a:t>Hand-labeled into extremist or not -&gt; significant harm, support of extre</a:t>
            </a:r>
            <a:r>
              <a:rPr lang="en-GB"/>
              <a:t>mist</a:t>
            </a:r>
            <a:r>
              <a:rPr lang="en-GB"/>
              <a:t> organizations, or promoting violent ideologies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 Dataset</a:t>
            </a:r>
            <a:endParaRPr/>
          </a:p>
        </p:txBody>
      </p:sp>
      <p:pic>
        <p:nvPicPr>
          <p:cNvPr id="157" name="Google Shape;157;p17"/>
          <p:cNvPicPr preferRelativeResize="0"/>
          <p:nvPr/>
        </p:nvPicPr>
        <p:blipFill>
          <a:blip r:embed="rId3">
            <a:alphaModFix/>
          </a:blip>
          <a:stretch>
            <a:fillRect/>
          </a:stretch>
        </p:blipFill>
        <p:spPr>
          <a:xfrm>
            <a:off x="1332100" y="1914250"/>
            <a:ext cx="6479801" cy="22415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Prototype Concept</a:t>
            </a:r>
            <a:endParaRPr/>
          </a:p>
        </p:txBody>
      </p:sp>
      <p:sp>
        <p:nvSpPr>
          <p:cNvPr id="163" name="Google Shape;163;p18"/>
          <p:cNvSpPr txBox="1"/>
          <p:nvPr>
            <p:ph idx="1" type="body"/>
          </p:nvPr>
        </p:nvSpPr>
        <p:spPr>
          <a:xfrm>
            <a:off x="819150" y="1990725"/>
            <a:ext cx="32148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BERT-style transformer body with + small linear classifier head</a:t>
            </a:r>
            <a:endParaRPr/>
          </a:p>
          <a:p>
            <a:pPr indent="-311150" lvl="0" marL="457200" rtl="0" algn="l">
              <a:spcBef>
                <a:spcPts val="0"/>
              </a:spcBef>
              <a:spcAft>
                <a:spcPts val="0"/>
              </a:spcAft>
              <a:buSzPts val="1300"/>
              <a:buChar char="●"/>
            </a:pPr>
            <a:r>
              <a:rPr lang="en-GB"/>
              <a:t>BCE, AdamW (LR=1e-5)</a:t>
            </a:r>
            <a:endParaRPr/>
          </a:p>
          <a:p>
            <a:pPr indent="-311150" lvl="0" marL="457200" rtl="0" algn="l">
              <a:spcBef>
                <a:spcPts val="0"/>
              </a:spcBef>
              <a:spcAft>
                <a:spcPts val="0"/>
              </a:spcAft>
              <a:buSzPts val="1300"/>
              <a:buChar char="●"/>
            </a:pPr>
            <a:r>
              <a:rPr lang="en-GB"/>
              <a:t>Early stopping with patience 3, saving best</a:t>
            </a:r>
            <a:endParaRPr/>
          </a:p>
          <a:p>
            <a:pPr indent="-311150" lvl="0" marL="457200" rtl="0" algn="l">
              <a:spcBef>
                <a:spcPts val="0"/>
              </a:spcBef>
              <a:spcAft>
                <a:spcPts val="0"/>
              </a:spcAft>
              <a:buSzPts val="1300"/>
              <a:buChar char="●"/>
            </a:pPr>
            <a:r>
              <a:rPr lang="en-GB"/>
              <a:t>Frozen -&gt; Unfrozen</a:t>
            </a:r>
            <a:endParaRPr/>
          </a:p>
        </p:txBody>
      </p:sp>
      <p:grpSp>
        <p:nvGrpSpPr>
          <p:cNvPr id="164" name="Google Shape;164;p18"/>
          <p:cNvGrpSpPr/>
          <p:nvPr/>
        </p:nvGrpSpPr>
        <p:grpSpPr>
          <a:xfrm>
            <a:off x="3950196" y="1638675"/>
            <a:ext cx="4845700" cy="2628750"/>
            <a:chOff x="3688471" y="1753375"/>
            <a:chExt cx="4845700" cy="2628750"/>
          </a:xfrm>
        </p:grpSpPr>
        <p:grpSp>
          <p:nvGrpSpPr>
            <p:cNvPr id="165" name="Google Shape;165;p18"/>
            <p:cNvGrpSpPr/>
            <p:nvPr/>
          </p:nvGrpSpPr>
          <p:grpSpPr>
            <a:xfrm>
              <a:off x="3688471" y="1753375"/>
              <a:ext cx="4845700" cy="2305050"/>
              <a:chOff x="3334596" y="2062200"/>
              <a:chExt cx="4845700" cy="2305050"/>
            </a:xfrm>
          </p:grpSpPr>
          <p:grpSp>
            <p:nvGrpSpPr>
              <p:cNvPr id="166" name="Google Shape;166;p18"/>
              <p:cNvGrpSpPr/>
              <p:nvPr/>
            </p:nvGrpSpPr>
            <p:grpSpPr>
              <a:xfrm>
                <a:off x="3334596" y="2062200"/>
                <a:ext cx="4845700" cy="2305050"/>
                <a:chOff x="3334596" y="2062200"/>
                <a:chExt cx="4845700" cy="2305050"/>
              </a:xfrm>
            </p:grpSpPr>
            <p:pic>
              <p:nvPicPr>
                <p:cNvPr id="167" name="Google Shape;167;p18"/>
                <p:cNvPicPr preferRelativeResize="0"/>
                <p:nvPr/>
              </p:nvPicPr>
              <p:blipFill>
                <a:blip r:embed="rId3">
                  <a:alphaModFix/>
                </a:blip>
                <a:stretch>
                  <a:fillRect/>
                </a:stretch>
              </p:blipFill>
              <p:spPr>
                <a:xfrm>
                  <a:off x="3334596" y="2062200"/>
                  <a:ext cx="4845700" cy="2305050"/>
                </a:xfrm>
                <a:prstGeom prst="rect">
                  <a:avLst/>
                </a:prstGeom>
                <a:noFill/>
                <a:ln>
                  <a:noFill/>
                </a:ln>
              </p:spPr>
            </p:pic>
            <p:sp>
              <p:nvSpPr>
                <p:cNvPr id="168" name="Google Shape;168;p18"/>
                <p:cNvSpPr/>
                <p:nvPr/>
              </p:nvSpPr>
              <p:spPr>
                <a:xfrm>
                  <a:off x="5506825" y="2119750"/>
                  <a:ext cx="1388700" cy="141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
            <p:nvSpPr>
              <p:cNvPr id="169" name="Google Shape;169;p18"/>
              <p:cNvSpPr/>
              <p:nvPr/>
            </p:nvSpPr>
            <p:spPr>
              <a:xfrm>
                <a:off x="5435975" y="2277050"/>
                <a:ext cx="1459500" cy="1488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
          <p:nvSpPr>
            <p:cNvPr id="170" name="Google Shape;170;p18"/>
            <p:cNvSpPr txBox="1"/>
            <p:nvPr/>
          </p:nvSpPr>
          <p:spPr>
            <a:xfrm>
              <a:off x="4169375" y="4058425"/>
              <a:ext cx="4207800" cy="323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GB" sz="700" u="sng">
                  <a:solidFill>
                    <a:schemeClr val="hlink"/>
                  </a:solidFill>
                  <a:latin typeface="Calibri"/>
                  <a:ea typeface="Calibri"/>
                  <a:cs typeface="Calibri"/>
                  <a:sym typeface="Calibri"/>
                </a:rPr>
                <a:t>https://esciencegroup.com/2020/02/20/modeling-natural-language-with-transformers-bert-roberta-and-xlnet/</a:t>
              </a:r>
              <a:endParaRPr sz="700" u="sng">
                <a:solidFill>
                  <a:schemeClr val="hlink"/>
                </a:solidFill>
                <a:latin typeface="Calibri"/>
                <a:ea typeface="Calibri"/>
                <a:cs typeface="Calibri"/>
                <a:sym typeface="Calibri"/>
              </a:endParaRPr>
            </a:p>
            <a:p>
              <a:pPr indent="0" lvl="0" marL="0" marR="0" rtl="0" algn="ctr">
                <a:lnSpc>
                  <a:spcPct val="115000"/>
                </a:lnSpc>
                <a:spcBef>
                  <a:spcPts val="1200"/>
                </a:spcBef>
                <a:spcAft>
                  <a:spcPts val="1200"/>
                </a:spcAft>
                <a:buNone/>
              </a:pPr>
              <a:r>
                <a:t/>
              </a:r>
              <a:endParaRPr sz="700" u="sng">
                <a:solidFill>
                  <a:schemeClr val="hlink"/>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4" name="Shape 174"/>
        <p:cNvGrpSpPr/>
        <p:nvPr/>
      </p:nvGrpSpPr>
      <p:grpSpPr>
        <a:xfrm>
          <a:off x="0" y="0"/>
          <a:ext cx="0" cy="0"/>
          <a:chOff x="0" y="0"/>
          <a:chExt cx="0" cy="0"/>
        </a:xfrm>
      </p:grpSpPr>
      <p:sp>
        <p:nvSpPr>
          <p:cNvPr id="175" name="Google Shape;175;p19"/>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Ruben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Validation loss VS accuracy + BERT</a:t>
            </a:r>
            <a:endParaRPr/>
          </a:p>
        </p:txBody>
      </p:sp>
      <p:sp>
        <p:nvSpPr>
          <p:cNvPr id="181" name="Google Shape;181;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Measuring performance using accuracy -&gt; model not generalizing well</a:t>
            </a:r>
            <a:endParaRPr/>
          </a:p>
          <a:p>
            <a:pPr indent="-311150" lvl="0" marL="457200" rtl="0" algn="l">
              <a:spcBef>
                <a:spcPts val="0"/>
              </a:spcBef>
              <a:spcAft>
                <a:spcPts val="0"/>
              </a:spcAft>
              <a:buSzPts val="1300"/>
              <a:buChar char="●"/>
            </a:pPr>
            <a:r>
              <a:rPr lang="en-GB"/>
              <a:t>Loss instead -&gt; more representative and stable</a:t>
            </a:r>
            <a:endParaRPr/>
          </a:p>
          <a:p>
            <a:pPr indent="-311150" lvl="0" marL="457200" rtl="0" algn="l">
              <a:spcBef>
                <a:spcPts val="0"/>
              </a:spcBef>
              <a:spcAft>
                <a:spcPts val="0"/>
              </a:spcAft>
              <a:buSzPts val="1300"/>
              <a:buChar char="●"/>
            </a:pPr>
            <a:r>
              <a:rPr lang="en-GB"/>
              <a:t>Deciding the version -&gt; test accuracy (captures good generalization best)</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GB"/>
              <a:t>BERT, RoBERTa, </a:t>
            </a:r>
            <a:r>
              <a:rPr lang="en-GB"/>
              <a:t>HateBERT </a:t>
            </a:r>
            <a:r>
              <a:rPr lang="en-GB"/>
              <a:t>and BERTweet</a:t>
            </a:r>
            <a:endParaRPr/>
          </a:p>
          <a:p>
            <a:pPr indent="-311150" lvl="0" marL="457200" rtl="0" algn="l">
              <a:spcBef>
                <a:spcPts val="0"/>
              </a:spcBef>
              <a:spcAft>
                <a:spcPts val="0"/>
              </a:spcAft>
              <a:buSzPts val="1300"/>
              <a:buChar char="●"/>
            </a:pPr>
            <a:r>
              <a:rPr lang="en-GB"/>
              <a:t>HateBERT not covering broader linguistics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Head Architecture + Dropout</a:t>
            </a:r>
            <a:endParaRPr/>
          </a:p>
        </p:txBody>
      </p:sp>
      <p:sp>
        <p:nvSpPr>
          <p:cNvPr id="187" name="Google Shape;187;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Simple head sufficient -&gt; body already captures majority task-relevant features</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t/>
            </a:r>
            <a:endParaRPr/>
          </a:p>
          <a:p>
            <a:pPr indent="0" lvl="0" marL="0" rtl="0" algn="l">
              <a:spcBef>
                <a:spcPts val="1200"/>
              </a:spcBef>
              <a:spcAft>
                <a:spcPts val="1200"/>
              </a:spcAft>
              <a:buNone/>
            </a:pPr>
            <a:r>
              <a:t/>
            </a:r>
            <a:endParaRPr/>
          </a:p>
        </p:txBody>
      </p:sp>
      <p:grpSp>
        <p:nvGrpSpPr>
          <p:cNvPr id="188" name="Google Shape;188;p21"/>
          <p:cNvGrpSpPr/>
          <p:nvPr/>
        </p:nvGrpSpPr>
        <p:grpSpPr>
          <a:xfrm>
            <a:off x="2519625" y="2882350"/>
            <a:ext cx="3494350" cy="1556375"/>
            <a:chOff x="1419200" y="2663500"/>
            <a:chExt cx="3494350" cy="1556375"/>
          </a:xfrm>
        </p:grpSpPr>
        <p:pic>
          <p:nvPicPr>
            <p:cNvPr id="189" name="Google Shape;189;p21"/>
            <p:cNvPicPr preferRelativeResize="0"/>
            <p:nvPr/>
          </p:nvPicPr>
          <p:blipFill rotWithShape="1">
            <a:blip r:embed="rId3">
              <a:alphaModFix/>
            </a:blip>
            <a:srcRect b="93162" l="0" r="0" t="0"/>
            <a:stretch/>
          </p:blipFill>
          <p:spPr>
            <a:xfrm>
              <a:off x="1419200" y="2663500"/>
              <a:ext cx="3494350" cy="283375"/>
            </a:xfrm>
            <a:prstGeom prst="rect">
              <a:avLst/>
            </a:prstGeom>
            <a:noFill/>
            <a:ln>
              <a:noFill/>
            </a:ln>
          </p:spPr>
        </p:pic>
        <p:pic>
          <p:nvPicPr>
            <p:cNvPr id="190" name="Google Shape;190;p21"/>
            <p:cNvPicPr preferRelativeResize="0"/>
            <p:nvPr/>
          </p:nvPicPr>
          <p:blipFill rotWithShape="1">
            <a:blip r:embed="rId3">
              <a:alphaModFix/>
            </a:blip>
            <a:srcRect b="0" l="0" r="0" t="69283"/>
            <a:stretch/>
          </p:blipFill>
          <p:spPr>
            <a:xfrm>
              <a:off x="1419200" y="2946875"/>
              <a:ext cx="3494350" cy="1273000"/>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Pooling</a:t>
            </a:r>
            <a:endParaRPr/>
          </a:p>
        </p:txBody>
      </p:sp>
      <p:sp>
        <p:nvSpPr>
          <p:cNvPr id="196" name="Google Shape;196;p22"/>
          <p:cNvSpPr txBox="1"/>
          <p:nvPr>
            <p:ph idx="1" type="body"/>
          </p:nvPr>
        </p:nvSpPr>
        <p:spPr>
          <a:xfrm>
            <a:off x="819150" y="1990725"/>
            <a:ext cx="31911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CLS: aggregate meaning of sentence using self-attention </a:t>
            </a:r>
            <a:endParaRPr/>
          </a:p>
          <a:p>
            <a:pPr indent="-311150" lvl="0" marL="457200" rtl="0" algn="l">
              <a:spcBef>
                <a:spcPts val="0"/>
              </a:spcBef>
              <a:spcAft>
                <a:spcPts val="0"/>
              </a:spcAft>
              <a:buSzPts val="1300"/>
              <a:buChar char="●"/>
            </a:pPr>
            <a:r>
              <a:rPr lang="en-GB"/>
              <a:t>Pre-train bias </a:t>
            </a:r>
            <a:endParaRPr/>
          </a:p>
          <a:p>
            <a:pPr indent="-311150" lvl="0" marL="457200" rtl="0" algn="l">
              <a:spcBef>
                <a:spcPts val="0"/>
              </a:spcBef>
              <a:spcAft>
                <a:spcPts val="0"/>
              </a:spcAft>
              <a:buSzPts val="1300"/>
              <a:buChar char="●"/>
            </a:pPr>
            <a:r>
              <a:rPr lang="en-GB"/>
              <a:t>Retrain by unfreezing, but…</a:t>
            </a:r>
            <a:endParaRPr/>
          </a:p>
          <a:p>
            <a:pPr indent="-311150" lvl="0" marL="457200" rtl="0" algn="l">
              <a:spcBef>
                <a:spcPts val="0"/>
              </a:spcBef>
              <a:spcAft>
                <a:spcPts val="0"/>
              </a:spcAft>
              <a:buSzPts val="1300"/>
              <a:buChar char="●"/>
            </a:pPr>
            <a:r>
              <a:rPr lang="en-GB"/>
              <a:t>Mean pooling?</a:t>
            </a:r>
            <a:endParaRPr/>
          </a:p>
          <a:p>
            <a:pPr indent="-311150" lvl="0" marL="457200" rtl="0" algn="l">
              <a:spcBef>
                <a:spcPts val="0"/>
              </a:spcBef>
              <a:spcAft>
                <a:spcPts val="0"/>
              </a:spcAft>
              <a:buSzPts val="1300"/>
              <a:buChar char="●"/>
            </a:pPr>
            <a:r>
              <a:rPr lang="en-GB"/>
              <a:t>Mathematical average vectors</a:t>
            </a:r>
            <a:endParaRPr/>
          </a:p>
          <a:p>
            <a:pPr indent="-311150" lvl="0" marL="457200" rtl="0" algn="l">
              <a:spcBef>
                <a:spcPts val="0"/>
              </a:spcBef>
              <a:spcAft>
                <a:spcPts val="0"/>
              </a:spcAft>
              <a:buSzPts val="1300"/>
              <a:buChar char="●"/>
            </a:pPr>
            <a:r>
              <a:rPr lang="en-GB"/>
              <a:t>Presence even if attention elsewhere</a:t>
            </a:r>
            <a:endParaRPr/>
          </a:p>
        </p:txBody>
      </p:sp>
      <p:pic>
        <p:nvPicPr>
          <p:cNvPr id="197" name="Google Shape;197;p22"/>
          <p:cNvPicPr preferRelativeResize="0"/>
          <p:nvPr/>
        </p:nvPicPr>
        <p:blipFill>
          <a:blip r:embed="rId3">
            <a:alphaModFix/>
          </a:blip>
          <a:stretch>
            <a:fillRect/>
          </a:stretch>
        </p:blipFill>
        <p:spPr>
          <a:xfrm>
            <a:off x="4118899" y="1252562"/>
            <a:ext cx="4492601" cy="2638375"/>
          </a:xfrm>
          <a:prstGeom prst="rect">
            <a:avLst/>
          </a:prstGeom>
          <a:noFill/>
          <a:ln>
            <a:noFill/>
          </a:ln>
        </p:spPr>
      </p:pic>
      <p:sp>
        <p:nvSpPr>
          <p:cNvPr id="198" name="Google Shape;198;p22"/>
          <p:cNvSpPr txBox="1"/>
          <p:nvPr/>
        </p:nvSpPr>
        <p:spPr>
          <a:xfrm>
            <a:off x="4118950" y="3890950"/>
            <a:ext cx="4492500" cy="323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lang="en-GB" sz="700" u="sng">
                <a:solidFill>
                  <a:schemeClr val="accent5"/>
                </a:solidFill>
                <a:latin typeface="Calibri"/>
                <a:ea typeface="Calibri"/>
                <a:cs typeface="Calibri"/>
                <a:sym typeface="Calibri"/>
                <a:hlinkClick r:id="rId4">
                  <a:extLst>
                    <a:ext uri="{A12FA001-AC4F-418D-AE19-62706E023703}">
                      <ahyp:hlinkClr val="tx"/>
                    </a:ext>
                  </a:extLst>
                </a:hlinkClick>
              </a:rPr>
              <a:t>https://aditya007.medium.com/understanding-the-cls-token-in-bert-a-comprehensive-guide-a62b3b94a941</a:t>
            </a:r>
            <a:endParaRPr sz="700">
              <a:solidFill>
                <a:schemeClr val="dk2"/>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Pooling</a:t>
            </a:r>
            <a:endParaRPr/>
          </a:p>
        </p:txBody>
      </p:sp>
      <p:sp>
        <p:nvSpPr>
          <p:cNvPr id="204" name="Google Shape;204;p23"/>
          <p:cNvSpPr txBox="1"/>
          <p:nvPr>
            <p:ph idx="1" type="body"/>
          </p:nvPr>
        </p:nvSpPr>
        <p:spPr>
          <a:xfrm>
            <a:off x="819150" y="1990725"/>
            <a:ext cx="31911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12 layers, usually just last</a:t>
            </a:r>
            <a:endParaRPr/>
          </a:p>
          <a:p>
            <a:pPr indent="-311150" lvl="0" marL="457200" rtl="0" algn="l">
              <a:spcBef>
                <a:spcPts val="0"/>
              </a:spcBef>
              <a:spcAft>
                <a:spcPts val="0"/>
              </a:spcAft>
              <a:buSzPts val="1300"/>
              <a:buChar char="●"/>
            </a:pPr>
            <a:r>
              <a:rPr lang="en-GB"/>
              <a:t>May be too specialized -&gt; last 3</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GB"/>
              <a:t>Cls_last, mean_last, cls_attn and mean_attn</a:t>
            </a:r>
            <a:endParaRPr/>
          </a:p>
          <a:p>
            <a:pPr indent="-311150" lvl="0" marL="457200" rtl="0" algn="l">
              <a:spcBef>
                <a:spcPts val="0"/>
              </a:spcBef>
              <a:spcAft>
                <a:spcPts val="0"/>
              </a:spcAft>
              <a:buSzPts val="1300"/>
              <a:buChar char="●"/>
            </a:pPr>
            <a:r>
              <a:rPr lang="en-GB"/>
              <a:t>Mean pooling slightly better</a:t>
            </a:r>
            <a:endParaRPr/>
          </a:p>
        </p:txBody>
      </p:sp>
      <p:sp>
        <p:nvSpPr>
          <p:cNvPr id="205" name="Google Shape;205;p23"/>
          <p:cNvSpPr txBox="1"/>
          <p:nvPr/>
        </p:nvSpPr>
        <p:spPr>
          <a:xfrm>
            <a:off x="4326425" y="3890950"/>
            <a:ext cx="4077600" cy="323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GB" sz="700" u="sng">
                <a:solidFill>
                  <a:schemeClr val="hlink"/>
                </a:solidFill>
                <a:latin typeface="Calibri"/>
                <a:ea typeface="Calibri"/>
                <a:cs typeface="Calibri"/>
                <a:sym typeface="Calibri"/>
                <a:hlinkClick r:id="rId3"/>
              </a:rPr>
              <a:t>https://www.researchgate.net/publication/393321304_Comparative_analysis_of_model_compression_techniques_for_achieving_carbon_efficient_AI</a:t>
            </a:r>
            <a:endParaRPr sz="700">
              <a:solidFill>
                <a:schemeClr val="dk2"/>
              </a:solidFill>
              <a:latin typeface="Calibri"/>
              <a:ea typeface="Calibri"/>
              <a:cs typeface="Calibri"/>
              <a:sym typeface="Calibri"/>
            </a:endParaRPr>
          </a:p>
          <a:p>
            <a:pPr indent="0" lvl="0" marL="0" rtl="0" algn="ctr">
              <a:lnSpc>
                <a:spcPct val="115000"/>
              </a:lnSpc>
              <a:spcBef>
                <a:spcPts val="1200"/>
              </a:spcBef>
              <a:spcAft>
                <a:spcPts val="1200"/>
              </a:spcAft>
              <a:buNone/>
            </a:pPr>
            <a:r>
              <a:t/>
            </a:r>
            <a:endParaRPr sz="700">
              <a:solidFill>
                <a:schemeClr val="dk2"/>
              </a:solidFill>
              <a:latin typeface="Calibri"/>
              <a:ea typeface="Calibri"/>
              <a:cs typeface="Calibri"/>
              <a:sym typeface="Calibri"/>
            </a:endParaRPr>
          </a:p>
        </p:txBody>
      </p:sp>
      <p:pic>
        <p:nvPicPr>
          <p:cNvPr id="206" name="Google Shape;206;p23"/>
          <p:cNvPicPr preferRelativeResize="0"/>
          <p:nvPr/>
        </p:nvPicPr>
        <p:blipFill>
          <a:blip r:embed="rId4">
            <a:alphaModFix/>
          </a:blip>
          <a:stretch>
            <a:fillRect/>
          </a:stretch>
        </p:blipFill>
        <p:spPr>
          <a:xfrm>
            <a:off x="4326437" y="969550"/>
            <a:ext cx="4077524" cy="2921400"/>
          </a:xfrm>
          <a:prstGeom prst="rect">
            <a:avLst/>
          </a:prstGeom>
          <a:noFill/>
          <a:ln cap="flat" cmpd="sng" w="9525">
            <a:solidFill>
              <a:srgbClr val="CCCCCC"/>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LR + Data Augmentation</a:t>
            </a:r>
            <a:endParaRPr/>
          </a:p>
        </p:txBody>
      </p:sp>
      <p:sp>
        <p:nvSpPr>
          <p:cNvPr id="212" name="Google Shape;212;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Small learning rate both -&gt; separate -&gt; warm-up schedule -&gt; …</a:t>
            </a:r>
            <a:endParaRPr/>
          </a:p>
          <a:p>
            <a:pPr indent="-311150" lvl="0" marL="457200" rtl="0" algn="l">
              <a:spcBef>
                <a:spcPts val="0"/>
              </a:spcBef>
              <a:spcAft>
                <a:spcPts val="0"/>
              </a:spcAft>
              <a:buSzPts val="1300"/>
              <a:buChar char="●"/>
            </a:pPr>
            <a:r>
              <a:rPr lang="en-GB"/>
              <a:t>Impact minimal</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GB"/>
              <a:t>Back Translation</a:t>
            </a:r>
            <a:r>
              <a:rPr lang="en-GB"/>
              <a:t>, NER Entity Swapping and  Adversarial Smart Swapping</a:t>
            </a:r>
            <a:endParaRPr/>
          </a:p>
          <a:p>
            <a:pPr indent="-311150" lvl="0" marL="457200" rtl="0" algn="l">
              <a:spcBef>
                <a:spcPts val="0"/>
              </a:spcBef>
              <a:spcAft>
                <a:spcPts val="0"/>
              </a:spcAft>
              <a:buSzPts val="1300"/>
              <a:buChar char="●"/>
            </a:pPr>
            <a:r>
              <a:rPr lang="en-GB"/>
              <a:t>C</a:t>
            </a:r>
            <a:r>
              <a:rPr lang="en-GB"/>
              <a:t>ontextual word substitution, random insertion, swap, deletion, .. better</a:t>
            </a:r>
            <a:endParaRPr/>
          </a:p>
          <a:p>
            <a:pPr indent="-311150" lvl="0" marL="457200" rtl="0" algn="l">
              <a:spcBef>
                <a:spcPts val="0"/>
              </a:spcBef>
              <a:spcAft>
                <a:spcPts val="0"/>
              </a:spcAft>
              <a:buSzPts val="1300"/>
              <a:buChar char="●"/>
            </a:pPr>
            <a:r>
              <a:rPr lang="en-GB"/>
              <a:t>Targeted entity-level augmentations &lt;-&gt; diverse lexical and structural variations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CV + Weighted Learning</a:t>
            </a:r>
            <a:endParaRPr/>
          </a:p>
        </p:txBody>
      </p:sp>
      <p:sp>
        <p:nvSpPr>
          <p:cNvPr id="218" name="Google Shape;218;p25"/>
          <p:cNvSpPr txBox="1"/>
          <p:nvPr>
            <p:ph idx="1" type="body"/>
          </p:nvPr>
        </p:nvSpPr>
        <p:spPr>
          <a:xfrm>
            <a:off x="819150" y="1593075"/>
            <a:ext cx="3511800" cy="7989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5</a:t>
            </a:r>
            <a:r>
              <a:rPr lang="en-GB"/>
              <a:t>-fold cross-validation with soft voting</a:t>
            </a:r>
            <a:endParaRPr/>
          </a:p>
          <a:p>
            <a:pPr indent="-311150" lvl="0" marL="457200" rtl="0" algn="l">
              <a:spcBef>
                <a:spcPts val="0"/>
              </a:spcBef>
              <a:spcAft>
                <a:spcPts val="0"/>
              </a:spcAft>
              <a:buSzPts val="1300"/>
              <a:buChar char="●"/>
            </a:pPr>
            <a:r>
              <a:rPr lang="en-GB"/>
              <a:t>Clear consistent improvement</a:t>
            </a:r>
            <a:endParaRPr/>
          </a:p>
        </p:txBody>
      </p:sp>
      <p:pic>
        <p:nvPicPr>
          <p:cNvPr id="219" name="Google Shape;219;p25"/>
          <p:cNvPicPr preferRelativeResize="0"/>
          <p:nvPr/>
        </p:nvPicPr>
        <p:blipFill>
          <a:blip r:embed="rId3">
            <a:alphaModFix/>
          </a:blip>
          <a:stretch>
            <a:fillRect/>
          </a:stretch>
        </p:blipFill>
        <p:spPr>
          <a:xfrm>
            <a:off x="1569500" y="2391975"/>
            <a:ext cx="6005002" cy="2377850"/>
          </a:xfrm>
          <a:prstGeom prst="rect">
            <a:avLst/>
          </a:prstGeom>
          <a:noFill/>
          <a:ln>
            <a:noFill/>
          </a:ln>
        </p:spPr>
      </p:pic>
      <p:sp>
        <p:nvSpPr>
          <p:cNvPr id="220" name="Google Shape;220;p25"/>
          <p:cNvSpPr txBox="1"/>
          <p:nvPr>
            <p:ph idx="1" type="body"/>
          </p:nvPr>
        </p:nvSpPr>
        <p:spPr>
          <a:xfrm>
            <a:off x="4813050" y="1593075"/>
            <a:ext cx="3827400" cy="7989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Test set balance different from training set</a:t>
            </a:r>
            <a:endParaRPr/>
          </a:p>
          <a:p>
            <a:pPr indent="-311150" lvl="0" marL="457200" rtl="0" algn="l">
              <a:spcBef>
                <a:spcPts val="0"/>
              </a:spcBef>
              <a:spcAft>
                <a:spcPts val="0"/>
              </a:spcAft>
              <a:buSzPts val="1300"/>
              <a:buChar char="●"/>
            </a:pPr>
            <a:r>
              <a:rPr lang="en-GB"/>
              <a:t>More importance to non-extremist examples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Final Model…?</a:t>
            </a:r>
            <a:endParaRPr/>
          </a:p>
        </p:txBody>
      </p:sp>
      <p:sp>
        <p:nvSpPr>
          <p:cNvPr id="226" name="Google Shape;226;p2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Combining best versions will result in a </a:t>
            </a:r>
            <a:r>
              <a:rPr lang="en-GB"/>
              <a:t>phenomenal</a:t>
            </a:r>
            <a:r>
              <a:rPr lang="en-GB"/>
              <a:t> model right?</a:t>
            </a:r>
            <a:endParaRPr/>
          </a:p>
          <a:p>
            <a:pPr indent="-311150" lvl="0" marL="457200" rtl="0" algn="l">
              <a:spcBef>
                <a:spcPts val="0"/>
              </a:spcBef>
              <a:spcAft>
                <a:spcPts val="0"/>
              </a:spcAft>
              <a:buSzPts val="1300"/>
              <a:buChar char="●"/>
            </a:pPr>
            <a:r>
              <a:rPr lang="en-GB"/>
              <a:t>Not so much: 73%</a:t>
            </a:r>
            <a:endParaRPr/>
          </a:p>
          <a:p>
            <a:pPr indent="-311150" lvl="0" marL="457200" rtl="0" algn="l">
              <a:spcBef>
                <a:spcPts val="0"/>
              </a:spcBef>
              <a:spcAft>
                <a:spcPts val="0"/>
              </a:spcAft>
              <a:buSzPts val="1300"/>
              <a:buChar char="●"/>
            </a:pPr>
            <a:r>
              <a:rPr lang="en-GB"/>
              <a:t>Adjustments influencing each other</a:t>
            </a:r>
            <a:endParaRPr/>
          </a:p>
          <a:p>
            <a:pPr indent="-311150" lvl="0" marL="457200" rtl="0" algn="l">
              <a:spcBef>
                <a:spcPts val="0"/>
              </a:spcBef>
              <a:spcAft>
                <a:spcPts val="0"/>
              </a:spcAft>
              <a:buSzPts val="1300"/>
              <a:buChar char="●"/>
            </a:pPr>
            <a:r>
              <a:rPr lang="en-GB"/>
              <a:t>Highest found: 77%</a:t>
            </a:r>
            <a:endParaRPr/>
          </a:p>
          <a:p>
            <a:pPr indent="-311150" lvl="0" marL="457200" rtl="0" algn="l">
              <a:spcBef>
                <a:spcPts val="0"/>
              </a:spcBef>
              <a:spcAft>
                <a:spcPts val="0"/>
              </a:spcAft>
              <a:buSzPts val="1300"/>
              <a:buChar char="●"/>
            </a:pPr>
            <a:r>
              <a:rPr lang="en-GB"/>
              <a:t>Without better Data Augmentation highest possible: +-80%</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Lessons Learned</a:t>
            </a:r>
            <a:endParaRPr/>
          </a:p>
        </p:txBody>
      </p:sp>
      <p:sp>
        <p:nvSpPr>
          <p:cNvPr id="232" name="Google Shape;232;p2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GB"/>
              <a:t>Choosing a good transformer model for the problem is essential. The head classifier is often quite simple. Changes to this known setup/architecture are not often impactful. Better to find improvements elsewhere.</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en-GB"/>
              <a:t>Validation loss can be a better metric than validation accuracy, even though high accuracy is what is wanted.</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en-GB"/>
              <a:t>Data augmentation is tricky and requires care and understanding.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Lessons Learned</a:t>
            </a:r>
            <a:endParaRPr/>
          </a:p>
        </p:txBody>
      </p:sp>
      <p:sp>
        <p:nvSpPr>
          <p:cNvPr id="238" name="Google Shape;238;p2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GB"/>
              <a:t>Cross-validation is almost always a good thing to do, as well as adding some dropout regularization.</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en-GB"/>
              <a:t>Understanding of NLP for classification using a text transformer like BERT.</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en-GB"/>
              <a:t>Optimization is complex. Summing distinct well-performing changes will not necessarily lead to a good model.</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Discussion</a:t>
            </a:r>
            <a:endParaRPr/>
          </a:p>
        </p:txBody>
      </p:sp>
      <p:pic>
        <p:nvPicPr>
          <p:cNvPr id="244" name="Google Shape;244;p29"/>
          <p:cNvPicPr preferRelativeResize="0"/>
          <p:nvPr/>
        </p:nvPicPr>
        <p:blipFill>
          <a:blip r:embed="rId3">
            <a:alphaModFix/>
          </a:blip>
          <a:stretch>
            <a:fillRect/>
          </a:stretch>
        </p:blipFill>
        <p:spPr>
          <a:xfrm>
            <a:off x="2019950" y="1657175"/>
            <a:ext cx="5104076" cy="28710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